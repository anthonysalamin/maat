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5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011680"/>
            <a:ext cx="5943600" cy="5943600"/>
          </a:xfrm>
          <a:prstGeom prst="ellipse">
            <a:avLst/>
          </a:prstGeom>
          <a:solidFill>
            <a:srgbClr val="2C5F4F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3291840"/>
            <a:ext cx="4572000" cy="4572000"/>
          </a:xfrm>
          <a:prstGeom prst="ellipse">
            <a:avLst/>
          </a:prstGeom>
          <a:solidFill>
            <a:srgbClr val="C19A3B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868680" cy="8686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635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600200" y="14173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MAAT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8412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revenue-to-margin operating system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project-based companies.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434340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B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Born from a real construction project. Beachhead: Swiss construction &amp; engineering SMEs.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5212080"/>
            <a:ext cx="2926080" cy="0"/>
          </a:xfrm>
          <a:prstGeom prst="line">
            <a:avLst/>
          </a:prstGeom>
          <a:noFill/>
          <a:ln w="25400">
            <a:solidFill>
              <a:srgbClr val="C19A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5349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pitch  ·  June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2C5F4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98448" y="658368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B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firm learns a project lost money only once it's over.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information is scattered across WhatsApp, email, Excel and paper — so no one has a live, trustworthy view of where a job stands or whether it is profitable.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240280"/>
            <a:ext cx="5394960" cy="2743200"/>
          </a:xfrm>
          <a:prstGeom prst="rect">
            <a:avLst/>
          </a:prstGeom>
          <a:solidFill>
            <a:srgbClr val="F3F6F4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2240280"/>
            <a:ext cx="82296" cy="2743200"/>
          </a:xfrm>
          <a:prstGeom prst="rect">
            <a:avLst/>
          </a:prstGeom>
          <a:solidFill>
            <a:srgbClr val="6E7E76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24231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A2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WORK RUNS TODAY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22960" y="2788920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2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decisions live in WhatsApp groups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2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Budgets in personal Excel files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2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Variations &amp; approvals buried in email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2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notes &amp; invoices on paper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2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in a separate system, weeks behind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217920" y="2240280"/>
            <a:ext cx="5394960" cy="2743200"/>
          </a:xfrm>
          <a:prstGeom prst="rect">
            <a:avLst/>
          </a:prstGeom>
          <a:solidFill>
            <a:srgbClr val="FAEDE9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17920" y="2240280"/>
            <a:ext cx="82296" cy="2743200"/>
          </a:xfrm>
          <a:prstGeom prst="rect">
            <a:avLst/>
          </a:prstGeom>
          <a:solidFill>
            <a:srgbClr val="B4543F"/>
          </a:solidFill>
          <a:ln/>
        </p:spPr>
      </p:sp>
      <p:sp>
        <p:nvSpPr>
          <p:cNvPr id="13" name="Text 10"/>
          <p:cNvSpPr/>
          <p:nvPr/>
        </p:nvSpPr>
        <p:spPr>
          <a:xfrm>
            <a:off x="6492240" y="24231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C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CAUSES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492240" y="2788920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5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view of project profitability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5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overruns discovered too late to fix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5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Disputes &amp; warranty claims with no paper trail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5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“Who approved this?” — nobody can say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5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managers buried in admin, not on site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48640" y="5212080"/>
            <a:ext cx="11091672" cy="960120"/>
          </a:xfrm>
          <a:prstGeom prst="rect">
            <a:avLst/>
          </a:prstGeom>
          <a:solidFill>
            <a:srgbClr val="163528"/>
          </a:solidFill>
          <a:ln/>
        </p:spPr>
      </p:sp>
      <p:sp>
        <p:nvSpPr>
          <p:cNvPr id="16" name="Text 13"/>
          <p:cNvSpPr/>
          <p:nvPr/>
        </p:nvSpPr>
        <p:spPr>
          <a:xfrm>
            <a:off x="868680" y="53218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1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Swiss reality that makes it worse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68680" y="559612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labour costs make every wasted hour expensive · a skilled-worker shortage makes admin on the wrong people unaffordable · rising compliance burden · tight margins leave no room for a project that quietly slips into the red.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MAAT — Business Control Platform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2C5F4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98448" y="658368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B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trends are converging now.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2615184" cy="3931920"/>
          </a:xfrm>
          <a:prstGeom prst="rect">
            <a:avLst/>
          </a:prstGeom>
          <a:solidFill>
            <a:srgbClr val="F3F6F4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783080"/>
            <a:ext cx="2615184" cy="109728"/>
          </a:xfrm>
          <a:prstGeom prst="rect">
            <a:avLst/>
          </a:prstGeom>
          <a:solidFill>
            <a:srgbClr val="C19A3B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2148840"/>
            <a:ext cx="2066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8FB3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822960" y="3063240"/>
            <a:ext cx="206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B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Margins are tightening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22960" y="3749040"/>
            <a:ext cx="211226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E7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&amp; engineering margins keep shrinking — wasted admin and late visibility hurt faster than ever.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374136" y="1783080"/>
            <a:ext cx="2615184" cy="3931920"/>
          </a:xfrm>
          <a:prstGeom prst="rect">
            <a:avLst/>
          </a:prstGeom>
          <a:solidFill>
            <a:srgbClr val="F3F6F4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74136" y="1783080"/>
            <a:ext cx="2615184" cy="109728"/>
          </a:xfrm>
          <a:prstGeom prst="rect">
            <a:avLst/>
          </a:prstGeom>
          <a:solidFill>
            <a:srgbClr val="C19A3B"/>
          </a:solidFill>
          <a:ln/>
        </p:spPr>
      </p:sp>
      <p:sp>
        <p:nvSpPr>
          <p:cNvPr id="13" name="Text 10"/>
          <p:cNvSpPr/>
          <p:nvPr/>
        </p:nvSpPr>
        <p:spPr>
          <a:xfrm>
            <a:off x="3648456" y="2148840"/>
            <a:ext cx="2066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8FB3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600" dirty="0"/>
          </a:p>
        </p:txBody>
      </p:sp>
      <p:sp>
        <p:nvSpPr>
          <p:cNvPr id="14" name="Text 11"/>
          <p:cNvSpPr/>
          <p:nvPr/>
        </p:nvSpPr>
        <p:spPr>
          <a:xfrm>
            <a:off x="3648456" y="3063240"/>
            <a:ext cx="206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B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 is rising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3648456" y="3749040"/>
            <a:ext cx="211226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E7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Administrative and audit burden keeps climbing — audit-ready traceability is no longer optional.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199632" y="1783080"/>
            <a:ext cx="2615184" cy="3931920"/>
          </a:xfrm>
          <a:prstGeom prst="rect">
            <a:avLst/>
          </a:prstGeom>
          <a:solidFill>
            <a:srgbClr val="F3F6F4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199632" y="1783080"/>
            <a:ext cx="2615184" cy="109728"/>
          </a:xfrm>
          <a:prstGeom prst="rect">
            <a:avLst/>
          </a:prstGeom>
          <a:solidFill>
            <a:srgbClr val="C19A3B"/>
          </a:solidFill>
          <a:ln/>
        </p:spPr>
      </p:sp>
      <p:sp>
        <p:nvSpPr>
          <p:cNvPr id="18" name="Text 15"/>
          <p:cNvSpPr/>
          <p:nvPr/>
        </p:nvSpPr>
        <p:spPr>
          <a:xfrm>
            <a:off x="6473952" y="2148840"/>
            <a:ext cx="2066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8FB3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600" dirty="0"/>
          </a:p>
        </p:txBody>
      </p:sp>
      <p:sp>
        <p:nvSpPr>
          <p:cNvPr id="19" name="Text 16"/>
          <p:cNvSpPr/>
          <p:nvPr/>
        </p:nvSpPr>
        <p:spPr>
          <a:xfrm>
            <a:off x="6473952" y="3063240"/>
            <a:ext cx="206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B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SMEs are going cloud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6473952" y="3749040"/>
            <a:ext cx="211226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E7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SMEs are finally adopting software — but still lack end-to-end control from revenue to margin.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9025128" y="1783080"/>
            <a:ext cx="2615184" cy="3931920"/>
          </a:xfrm>
          <a:prstGeom prst="rect">
            <a:avLst/>
          </a:prstGeom>
          <a:solidFill>
            <a:srgbClr val="F3F6F4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9025128" y="1783080"/>
            <a:ext cx="2615184" cy="109728"/>
          </a:xfrm>
          <a:prstGeom prst="rect">
            <a:avLst/>
          </a:prstGeom>
          <a:solidFill>
            <a:srgbClr val="C19A3B"/>
          </a:solidFill>
          <a:ln/>
        </p:spPr>
      </p:sp>
      <p:sp>
        <p:nvSpPr>
          <p:cNvPr id="23" name="Text 20"/>
          <p:cNvSpPr/>
          <p:nvPr/>
        </p:nvSpPr>
        <p:spPr>
          <a:xfrm>
            <a:off x="9299448" y="2148840"/>
            <a:ext cx="2066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8FB3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4600" dirty="0"/>
          </a:p>
        </p:txBody>
      </p:sp>
      <p:sp>
        <p:nvSpPr>
          <p:cNvPr id="24" name="Text 21"/>
          <p:cNvSpPr/>
          <p:nvPr/>
        </p:nvSpPr>
        <p:spPr>
          <a:xfrm>
            <a:off x="9299448" y="3063240"/>
            <a:ext cx="206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B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needs structure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9299448" y="3749040"/>
            <a:ext cx="211226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E7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valuable only on structured, traceable operational data — MAAT is building that foundation.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MAAT — Business Control Platform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2C5F4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98448" y="658368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B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workspace, from intent to settlement.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E7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MAAT is not another system — it is the layer that connects them. It links commercial intent, delivery work, commitments and settlement, so control flows from revenue to margin. It runs on phone, tablet and desktop — approvals and site capture happen where the work is.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822960" y="2468880"/>
            <a:ext cx="3383280" cy="2468880"/>
          </a:xfrm>
          <a:prstGeom prst="rect">
            <a:avLst/>
          </a:prstGeom>
          <a:solidFill>
            <a:srgbClr val="F3F6F4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097280" y="27432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INTENT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97280" y="333756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2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CRM capture commercial intent — leads, opportunities, quotations and commitments.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261104" y="329184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FB3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4000" dirty="0"/>
          </a:p>
        </p:txBody>
      </p:sp>
      <p:sp>
        <p:nvSpPr>
          <p:cNvPr id="11" name="Shape 8"/>
          <p:cNvSpPr/>
          <p:nvPr/>
        </p:nvSpPr>
        <p:spPr>
          <a:xfrm>
            <a:off x="4709160" y="2468880"/>
            <a:ext cx="3383280" cy="2468880"/>
          </a:xfrm>
          <a:prstGeom prst="rect">
            <a:avLst/>
          </a:prstGeom>
          <a:solidFill>
            <a:srgbClr val="163528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983480" y="27432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9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EXECUTION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4983480" y="333756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C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&amp; procurement turn intent into delivery — phases, tasks, orders and receipts, governed by approvals.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147304" y="329184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FB3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4000" dirty="0"/>
          </a:p>
        </p:txBody>
      </p:sp>
      <p:sp>
        <p:nvSpPr>
          <p:cNvPr id="15" name="Shape 12"/>
          <p:cNvSpPr/>
          <p:nvPr/>
        </p:nvSpPr>
        <p:spPr>
          <a:xfrm>
            <a:off x="8595360" y="2468880"/>
            <a:ext cx="3383280" cy="2468880"/>
          </a:xfrm>
          <a:prstGeom prst="rect">
            <a:avLst/>
          </a:prstGeom>
          <a:solidFill>
            <a:srgbClr val="F3F6F4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869680" y="27432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9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OUTCOME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8869680" y="333756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2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records the result — invoices, payments, allocations, and live cost-against-revenue.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48640" y="5257800"/>
            <a:ext cx="11091672" cy="822960"/>
          </a:xfrm>
          <a:prstGeom prst="rect">
            <a:avLst/>
          </a:prstGeom>
          <a:solidFill>
            <a:srgbClr val="F3F6F4"/>
          </a:solidFill>
          <a:ln/>
        </p:spPr>
      </p:sp>
      <p:sp>
        <p:nvSpPr>
          <p:cNvPr id="19" name="Text 16"/>
          <p:cNvSpPr/>
          <p:nvPr/>
        </p:nvSpPr>
        <p:spPr>
          <a:xfrm>
            <a:off x="868680" y="52578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chain:  </a:t>
            </a:r>
            <a:pPr indent="0" marL="0">
              <a:buNone/>
            </a:pPr>
            <a:r>
              <a:rPr lang="en-US" sz="1400" b="1" dirty="0">
                <a:solidFill>
                  <a:srgbClr val="2C5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→ project → request → order → invoice → payment</a:t>
            </a:r>
            <a:pPr indent="0" marL="0">
              <a:buNone/>
            </a:pPr>
            <a:r>
              <a:rPr lang="en-US" sz="1400" dirty="0">
                <a:solidFill>
                  <a:srgbClr val="6E7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one audit trail for every action.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MAAT — Business Control Platform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2C5F4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&amp; AFTER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98448" y="658368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B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changes for the team.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5440680" cy="4480560"/>
          </a:xfrm>
          <a:prstGeom prst="rect">
            <a:avLst/>
          </a:prstGeom>
          <a:solidFill>
            <a:srgbClr val="FAEDE9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19659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C3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MAAT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514600"/>
            <a:ext cx="4800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5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groups for site decisions</a:t>
            </a:r>
            <a:endParaRPr lang="en-US" sz="145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5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for approvals and variations</a:t>
            </a:r>
            <a:endParaRPr lang="en-US" sz="145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5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Excel files for budgets</a:t>
            </a:r>
            <a:endParaRPr lang="en-US" sz="145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5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delivery notes &amp; subcontractor records</a:t>
            </a:r>
            <a:endParaRPr lang="en-US" sz="145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5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weeks behind project reality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263640" y="1737360"/>
            <a:ext cx="5440680" cy="4480560"/>
          </a:xfrm>
          <a:prstGeom prst="rect">
            <a:avLst/>
          </a:prstGeom>
          <a:solidFill>
            <a:srgbClr val="ECF3EF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263640" y="1737360"/>
            <a:ext cx="91440" cy="4480560"/>
          </a:xfrm>
          <a:prstGeom prst="rect">
            <a:avLst/>
          </a:prstGeom>
          <a:solidFill>
            <a:srgbClr val="2C5F4F"/>
          </a:solidFill>
          <a:ln/>
        </p:spPr>
      </p:sp>
      <p:sp>
        <p:nvSpPr>
          <p:cNvPr id="11" name="Text 8"/>
          <p:cNvSpPr/>
          <p:nvPr/>
        </p:nvSpPr>
        <p:spPr>
          <a:xfrm>
            <a:off x="6583680" y="19659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MAAT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583680" y="2514600"/>
            <a:ext cx="4800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F4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workspace across sales, projects, procurement &amp; finance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F4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governed approval flow with traceable sign-off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F4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audit trail linking decisions to documents &amp; payments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F4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repository for evidence and project history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F4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dashboard for budget, commitments &amp; margin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MAAT — Business Control Platform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2C5F4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CUSTOMERS BUY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98448" y="658368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B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Sell money, time and risk.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1463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7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MAAT gives each project manager back 5–10 hours a week and stops the costly mistakes — the overruns, the lost disputes, and the approvals no one can trace.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286000"/>
            <a:ext cx="2615184" cy="1783080"/>
          </a:xfrm>
          <a:prstGeom prst="rect">
            <a:avLst/>
          </a:prstGeom>
          <a:solidFill>
            <a:srgbClr val="163528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77240" y="2468880"/>
            <a:ext cx="2249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19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5–10 h</a:t>
            </a:r>
            <a:pPr indent="0" marL="0">
              <a:buNone/>
            </a:pPr>
            <a:r>
              <a:rPr lang="en-US" sz="1300" dirty="0">
                <a:solidFill>
                  <a:srgbClr val="8FB3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/ week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777240" y="3154680"/>
            <a:ext cx="2203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C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&amp; re-keying given back to each PM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74136" y="2286000"/>
            <a:ext cx="2615184" cy="1783080"/>
          </a:xfrm>
          <a:prstGeom prst="rect">
            <a:avLst/>
          </a:prstGeom>
          <a:solidFill>
            <a:srgbClr val="163528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602736" y="2468880"/>
            <a:ext cx="2249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19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CHF 25–65k</a:t>
            </a:r>
            <a:pPr indent="0" marL="0">
              <a:buNone/>
            </a:pPr>
            <a:r>
              <a:rPr lang="en-US" sz="1300" dirty="0">
                <a:solidFill>
                  <a:srgbClr val="8FB3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/ year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3602736" y="3154680"/>
            <a:ext cx="2203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C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 capacity per PM (loaded ~CHF 120/h)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199632" y="2286000"/>
            <a:ext cx="2615184" cy="1783080"/>
          </a:xfrm>
          <a:prstGeom prst="rect">
            <a:avLst/>
          </a:prstGeom>
          <a:solidFill>
            <a:srgbClr val="163528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428232" y="2468880"/>
            <a:ext cx="2249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19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Days → min</a:t>
            </a:r>
            <a:pPr indent="0" marL="0">
              <a:buNone/>
            </a:pPr>
            <a:r>
              <a:rPr lang="en-US" sz="1300" dirty="0">
                <a:solidFill>
                  <a:srgbClr val="8FB3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6428232" y="3154680"/>
            <a:ext cx="2203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C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assemble an evidence pack for a dispute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9025128" y="2286000"/>
            <a:ext cx="2615184" cy="1783080"/>
          </a:xfrm>
          <a:prstGeom prst="rect">
            <a:avLst/>
          </a:prstGeom>
          <a:solidFill>
            <a:srgbClr val="163528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9253728" y="2468880"/>
            <a:ext cx="2249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19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4–5 → 1</a:t>
            </a:r>
            <a:pPr indent="0" marL="0">
              <a:buNone/>
            </a:pPr>
            <a:r>
              <a:rPr lang="en-US" sz="1300" dirty="0">
                <a:solidFill>
                  <a:srgbClr val="8FB3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tools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9253728" y="3154680"/>
            <a:ext cx="2203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C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systems replaced by one workspace</a:t>
            </a:r>
            <a:endParaRPr lang="en-US" sz="115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398264"/>
            <a:ext cx="146304" cy="14630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868680" y="429768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budget-vs-actual  —  </a:t>
            </a:r>
            <a:pPr indent="0" marL="0">
              <a:buNone/>
            </a:pPr>
            <a:r>
              <a:rPr lang="en-US" sz="1300" dirty="0">
                <a:solidFill>
                  <a:srgbClr val="6E7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margins — see a site slip into red while you can still fix it.</a:t>
            </a:r>
            <a:endParaRPr lang="en-US" sz="13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855464"/>
            <a:ext cx="146304" cy="14630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68680" y="475488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workflow  —  </a:t>
            </a:r>
            <a:pPr indent="0" marL="0">
              <a:buNone/>
            </a:pPr>
            <a:r>
              <a:rPr lang="en-US" sz="1300" dirty="0">
                <a:solidFill>
                  <a:srgbClr val="6E7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costs — spend committed only after quote comparison &amp; sign-off.</a:t>
            </a:r>
            <a:endParaRPr lang="en-US" sz="13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5312664"/>
            <a:ext cx="146304" cy="14630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68680" y="521208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repository + audit trail  —  </a:t>
            </a:r>
            <a:pPr indent="0" marL="0">
              <a:buNone/>
            </a:pPr>
            <a:r>
              <a:rPr lang="en-US" sz="1300" dirty="0">
                <a:solidFill>
                  <a:srgbClr val="6E7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disputes &amp; stay audit-ready — pull every sign-off in minutes.</a:t>
            </a:r>
            <a:endParaRPr lang="en-US" sz="13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5769864"/>
            <a:ext cx="146304" cy="14630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68680" y="566928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 / DE / IT · multi-currency · mobile  —  </a:t>
            </a:r>
            <a:pPr indent="0" marL="0">
              <a:buNone/>
            </a:pPr>
            <a:r>
              <a:rPr lang="en-US" sz="1300" dirty="0">
                <a:solidFill>
                  <a:srgbClr val="6E7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across Switzerland and on site, from a phone.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MAAT — Business Control Platform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2C5F4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POSITIONING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98448" y="658368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B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MAAT compares.</a:t>
            </a:r>
            <a:endParaRPr lang="en-US" sz="2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4507992"/>
                <a:gridCol w="1645920"/>
                <a:gridCol w="164592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What matters to the buyer</a:t>
                      </a:r>
                      <a:endParaRPr lang="en-US" sz="125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5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Excel</a:t>
                      </a:r>
                      <a:endParaRPr lang="en-US" sz="125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5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Asana /</a:t>
                      </a:r>
                      <a:endParaRPr lang="en-US" sz="1250" dirty="0"/>
                    </a:p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Monday</a:t>
                      </a:r>
                      <a:endParaRPr lang="en-US" sz="125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5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Procore</a:t>
                      </a:r>
                      <a:endParaRPr lang="en-US" sz="125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5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19A3B"/>
                          </a:solidFill>
                        </a:rPr>
                        <a:t>MAAT</a:t>
                      </a:r>
                      <a:endParaRPr lang="en-US" sz="125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5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2B23"/>
                          </a:solidFill>
                        </a:rPr>
                        <a:t>Real-time project profitability</a:t>
                      </a:r>
                      <a:endParaRPr lang="en-US" sz="125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A6D1F"/>
                          </a:solidFill>
                        </a:rPr>
                        <a:t>Partial</a:t>
                      </a:r>
                      <a:endParaRPr lang="en-US" sz="11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C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7E76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A6D1F"/>
                          </a:solidFill>
                        </a:rPr>
                        <a:t>Partial</a:t>
                      </a:r>
                      <a:endParaRPr lang="en-US" sz="11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C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2B23"/>
                          </a:solidFill>
                        </a:rPr>
                        <a:t>Procurement &amp; cost control</a:t>
                      </a:r>
                      <a:endParaRPr lang="en-US" sz="125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7E76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7E76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A6D1F"/>
                          </a:solidFill>
                        </a:rPr>
                        <a:t>Partial</a:t>
                      </a:r>
                      <a:endParaRPr lang="en-US" sz="11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C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2B23"/>
                          </a:solidFill>
                        </a:rPr>
                        <a:t>Approvals &amp; governance</a:t>
                      </a:r>
                      <a:endParaRPr lang="en-US" sz="125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7E76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A6D1F"/>
                          </a:solidFill>
                        </a:rPr>
                        <a:t>Partial</a:t>
                      </a:r>
                      <a:endParaRPr lang="en-US" sz="11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C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A6D1F"/>
                          </a:solidFill>
                        </a:rPr>
                        <a:t>Partial</a:t>
                      </a:r>
                      <a:endParaRPr lang="en-US" sz="11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C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2B23"/>
                          </a:solidFill>
                        </a:rPr>
                        <a:t>Document &amp; audit trail</a:t>
                      </a:r>
                      <a:endParaRPr lang="en-US" sz="125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7E76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A6D1F"/>
                          </a:solidFill>
                        </a:rPr>
                        <a:t>Partial</a:t>
                      </a:r>
                      <a:endParaRPr lang="en-US" sz="11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C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2B23"/>
                          </a:solidFill>
                        </a:rPr>
                        <a:t>Finance link to margin</a:t>
                      </a:r>
                      <a:endParaRPr lang="en-US" sz="125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7E76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7E76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A6D1F"/>
                          </a:solidFill>
                        </a:rPr>
                        <a:t>Partial</a:t>
                      </a:r>
                      <a:endParaRPr lang="en-US" sz="11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C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2B23"/>
                          </a:solidFill>
                        </a:rPr>
                        <a:t>FR / DE / IT in one tenant</a:t>
                      </a:r>
                      <a:endParaRPr lang="en-US" sz="125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A6D1F"/>
                          </a:solidFill>
                        </a:rPr>
                        <a:t>Partial</a:t>
                      </a:r>
                      <a:endParaRPr lang="en-US" sz="11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C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A6D1F"/>
                          </a:solidFill>
                        </a:rPr>
                        <a:t>Partial</a:t>
                      </a:r>
                      <a:endParaRPr lang="en-US" sz="11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C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7E76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2B23"/>
                          </a:solidFill>
                        </a:rPr>
                        <a:t>Mobile site capture &amp; approvals</a:t>
                      </a:r>
                      <a:endParaRPr lang="en-US" sz="125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7E76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4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553212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6E7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differentiators: built for Swiss project-based SMEs · multilingual FR/DE/IT in one tenant · Swiss/EU data residency · designed for Swiss compliance · simpler &amp; cheaper than enterprise ERP or Procore.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MAAT — Business Control Platform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2C5F4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ORIGIN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98448" y="658368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B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didn't theorize the problem — we lived it.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5486400" cy="4389120"/>
          </a:xfrm>
          <a:prstGeom prst="rect">
            <a:avLst/>
          </a:prstGeom>
          <a:solidFill>
            <a:srgbClr val="163528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20116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1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HARMAR ORIGIN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68680" y="2377440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C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MAAT was born from two years running a multi-year construction &amp; property project in Bahia, Brazil — planning, procurement, supplier coordination, documentation and financial control. The fragmentation was lived, then generalised into a platform.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68680" y="38862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C19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35+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868680" y="4343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B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 coordinated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3383280" y="38862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C19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400+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3383280" y="4343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B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 processed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68680" y="49377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C19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2,000+</a:t>
            </a:r>
            <a:endParaRPr lang="en-US" sz="2500" dirty="0"/>
          </a:p>
        </p:txBody>
      </p:sp>
      <p:sp>
        <p:nvSpPr>
          <p:cNvPr id="14" name="Text 11"/>
          <p:cNvSpPr/>
          <p:nvPr/>
        </p:nvSpPr>
        <p:spPr>
          <a:xfrm>
            <a:off x="868680" y="5394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B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&amp; evidence files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3383280" y="49377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C19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Multiple</a:t>
            </a:r>
            <a:endParaRPr lang="en-US" sz="2500" dirty="0"/>
          </a:p>
        </p:txBody>
      </p:sp>
      <p:sp>
        <p:nvSpPr>
          <p:cNvPr id="16" name="Text 13"/>
          <p:cNvSpPr/>
          <p:nvPr/>
        </p:nvSpPr>
        <p:spPr>
          <a:xfrm>
            <a:off x="3383280" y="5394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B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disciplines in parallel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309360" y="187452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B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Founder-market fit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6309360" y="2423160"/>
            <a:ext cx="5349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2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EPFL-trained engineer, 20+ years of management</a:t>
            </a:r>
            <a:endParaRPr lang="en-US" sz="1350" dirty="0"/>
          </a:p>
          <a:p>
            <a:pPr marL="203200" indent="-2032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2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engineering &amp; complex industrial process background</a:t>
            </a:r>
            <a:endParaRPr lang="en-US" sz="1350" dirty="0"/>
          </a:p>
          <a:p>
            <a:pPr marL="203200" indent="-2032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2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integration, procurement, finance &amp; project execution</a:t>
            </a:r>
            <a:endParaRPr lang="en-US" sz="1350" dirty="0"/>
          </a:p>
          <a:p>
            <a:pPr marL="203200" indent="-2032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2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management &amp; large international project delivery</a:t>
            </a:r>
            <a:endParaRPr lang="en-US" sz="1350" dirty="0"/>
          </a:p>
          <a:p>
            <a:pPr marL="203200" indent="-2032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2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Personally executed the multi-year HARMAR project</a:t>
            </a:r>
            <a:endParaRPr lang="en-US" sz="1350" dirty="0"/>
          </a:p>
          <a:p>
            <a:pPr marL="203200" indent="-2032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2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MAAT because no tool gave end-to-end revenue-to-margin control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MAAT — Business Control Platform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2C5F4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98448" y="658368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B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and shipped — proof comes next.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C5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MATURITY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1874520"/>
            <a:ext cx="2615184" cy="1234440"/>
          </a:xfrm>
          <a:prstGeom prst="rect">
            <a:avLst/>
          </a:prstGeom>
          <a:solidFill>
            <a:srgbClr val="F3F6F4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1874520"/>
            <a:ext cx="91440" cy="1234440"/>
          </a:xfrm>
          <a:prstGeom prst="rect">
            <a:avLst/>
          </a:prstGeom>
          <a:solidFill>
            <a:srgbClr val="2C5F4F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1984248"/>
            <a:ext cx="2157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B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112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822960" y="2624328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pages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374136" y="1874520"/>
            <a:ext cx="2615184" cy="1234440"/>
          </a:xfrm>
          <a:prstGeom prst="rect">
            <a:avLst/>
          </a:prstGeom>
          <a:solidFill>
            <a:srgbClr val="F3F6F4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74136" y="1874520"/>
            <a:ext cx="91440" cy="1234440"/>
          </a:xfrm>
          <a:prstGeom prst="rect">
            <a:avLst/>
          </a:prstGeom>
          <a:solidFill>
            <a:srgbClr val="2C5F4F"/>
          </a:solidFill>
          <a:ln/>
        </p:spPr>
      </p:sp>
      <p:sp>
        <p:nvSpPr>
          <p:cNvPr id="13" name="Text 10"/>
          <p:cNvSpPr/>
          <p:nvPr/>
        </p:nvSpPr>
        <p:spPr>
          <a:xfrm>
            <a:off x="3648456" y="1984248"/>
            <a:ext cx="2157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B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400" dirty="0"/>
          </a:p>
        </p:txBody>
      </p:sp>
      <p:sp>
        <p:nvSpPr>
          <p:cNvPr id="14" name="Text 11"/>
          <p:cNvSpPr/>
          <p:nvPr/>
        </p:nvSpPr>
        <p:spPr>
          <a:xfrm>
            <a:off x="3648456" y="2624328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locales in parity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199632" y="1874520"/>
            <a:ext cx="2615184" cy="1234440"/>
          </a:xfrm>
          <a:prstGeom prst="rect">
            <a:avLst/>
          </a:prstGeom>
          <a:solidFill>
            <a:srgbClr val="F3F6F4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199632" y="1874520"/>
            <a:ext cx="91440" cy="1234440"/>
          </a:xfrm>
          <a:prstGeom prst="rect">
            <a:avLst/>
          </a:prstGeom>
          <a:solidFill>
            <a:srgbClr val="2C5F4F"/>
          </a:solidFill>
          <a:ln/>
        </p:spPr>
      </p:sp>
      <p:sp>
        <p:nvSpPr>
          <p:cNvPr id="17" name="Text 14"/>
          <p:cNvSpPr/>
          <p:nvPr/>
        </p:nvSpPr>
        <p:spPr>
          <a:xfrm>
            <a:off x="6473952" y="1984248"/>
            <a:ext cx="2157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B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3400" dirty="0"/>
          </a:p>
        </p:txBody>
      </p:sp>
      <p:sp>
        <p:nvSpPr>
          <p:cNvPr id="18" name="Text 15"/>
          <p:cNvSpPr/>
          <p:nvPr/>
        </p:nvSpPr>
        <p:spPr>
          <a:xfrm>
            <a:off x="6473952" y="2624328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workflows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9025128" y="1874520"/>
            <a:ext cx="2615184" cy="1234440"/>
          </a:xfrm>
          <a:prstGeom prst="rect">
            <a:avLst/>
          </a:prstGeom>
          <a:solidFill>
            <a:srgbClr val="F3F6F4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025128" y="1874520"/>
            <a:ext cx="91440" cy="1234440"/>
          </a:xfrm>
          <a:prstGeom prst="rect">
            <a:avLst/>
          </a:prstGeom>
          <a:solidFill>
            <a:srgbClr val="2C5F4F"/>
          </a:solidFill>
          <a:ln/>
        </p:spPr>
      </p:sp>
      <p:sp>
        <p:nvSpPr>
          <p:cNvPr id="21" name="Text 18"/>
          <p:cNvSpPr/>
          <p:nvPr/>
        </p:nvSpPr>
        <p:spPr>
          <a:xfrm>
            <a:off x="9299448" y="1984248"/>
            <a:ext cx="2157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B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</a:t>
            </a:r>
            <a:endParaRPr lang="en-US" sz="3400" dirty="0"/>
          </a:p>
        </p:txBody>
      </p:sp>
      <p:sp>
        <p:nvSpPr>
          <p:cNvPr id="22" name="Text 19"/>
          <p:cNvSpPr/>
          <p:nvPr/>
        </p:nvSpPr>
        <p:spPr>
          <a:xfrm>
            <a:off x="9299448" y="2624328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families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548640" y="3291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C5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DEPTH (shipped — for technical diligence)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48640" y="3611880"/>
            <a:ext cx="2615184" cy="1234440"/>
          </a:xfrm>
          <a:prstGeom prst="rect">
            <a:avLst/>
          </a:prstGeom>
          <a:solidFill>
            <a:srgbClr val="F3F6F4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48640" y="3611880"/>
            <a:ext cx="91440" cy="1234440"/>
          </a:xfrm>
          <a:prstGeom prst="rect">
            <a:avLst/>
          </a:prstGeom>
          <a:solidFill>
            <a:srgbClr val="C19A3B"/>
          </a:solidFill>
          <a:ln/>
        </p:spPr>
      </p:sp>
      <p:sp>
        <p:nvSpPr>
          <p:cNvPr id="26" name="Text 23"/>
          <p:cNvSpPr/>
          <p:nvPr/>
        </p:nvSpPr>
        <p:spPr>
          <a:xfrm>
            <a:off x="822960" y="3721608"/>
            <a:ext cx="2157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B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777</a:t>
            </a:r>
            <a:endParaRPr lang="en-US" sz="3400" dirty="0"/>
          </a:p>
        </p:txBody>
      </p:sp>
      <p:sp>
        <p:nvSpPr>
          <p:cNvPr id="27" name="Text 24"/>
          <p:cNvSpPr/>
          <p:nvPr/>
        </p:nvSpPr>
        <p:spPr>
          <a:xfrm>
            <a:off x="822960" y="4361688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migrations shipped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3374136" y="3611880"/>
            <a:ext cx="2615184" cy="1234440"/>
          </a:xfrm>
          <a:prstGeom prst="rect">
            <a:avLst/>
          </a:prstGeom>
          <a:solidFill>
            <a:srgbClr val="F3F6F4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3374136" y="3611880"/>
            <a:ext cx="91440" cy="1234440"/>
          </a:xfrm>
          <a:prstGeom prst="rect">
            <a:avLst/>
          </a:prstGeom>
          <a:solidFill>
            <a:srgbClr val="C19A3B"/>
          </a:solidFill>
          <a:ln/>
        </p:spPr>
      </p:sp>
      <p:sp>
        <p:nvSpPr>
          <p:cNvPr id="30" name="Text 27"/>
          <p:cNvSpPr/>
          <p:nvPr/>
        </p:nvSpPr>
        <p:spPr>
          <a:xfrm>
            <a:off x="3648456" y="3721608"/>
            <a:ext cx="2157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B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162</a:t>
            </a:r>
            <a:endParaRPr lang="en-US" sz="3400" dirty="0"/>
          </a:p>
        </p:txBody>
      </p:sp>
      <p:sp>
        <p:nvSpPr>
          <p:cNvPr id="31" name="Text 28"/>
          <p:cNvSpPr/>
          <p:nvPr/>
        </p:nvSpPr>
        <p:spPr>
          <a:xfrm>
            <a:off x="3648456" y="4361688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tables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6199632" y="3611880"/>
            <a:ext cx="2615184" cy="1234440"/>
          </a:xfrm>
          <a:prstGeom prst="rect">
            <a:avLst/>
          </a:prstGeom>
          <a:solidFill>
            <a:srgbClr val="F3F6F4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6199632" y="3611880"/>
            <a:ext cx="91440" cy="1234440"/>
          </a:xfrm>
          <a:prstGeom prst="rect">
            <a:avLst/>
          </a:prstGeom>
          <a:solidFill>
            <a:srgbClr val="C19A3B"/>
          </a:solidFill>
          <a:ln/>
        </p:spPr>
      </p:sp>
      <p:sp>
        <p:nvSpPr>
          <p:cNvPr id="34" name="Text 31"/>
          <p:cNvSpPr/>
          <p:nvPr/>
        </p:nvSpPr>
        <p:spPr>
          <a:xfrm>
            <a:off x="6473952" y="3721608"/>
            <a:ext cx="2157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B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317</a:t>
            </a:r>
            <a:endParaRPr lang="en-US" sz="3400" dirty="0"/>
          </a:p>
        </p:txBody>
      </p:sp>
      <p:sp>
        <p:nvSpPr>
          <p:cNvPr id="35" name="Text 32"/>
          <p:cNvSpPr/>
          <p:nvPr/>
        </p:nvSpPr>
        <p:spPr>
          <a:xfrm>
            <a:off x="6473952" y="4361688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functions (RPCs)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9025128" y="3611880"/>
            <a:ext cx="2615184" cy="1234440"/>
          </a:xfrm>
          <a:prstGeom prst="rect">
            <a:avLst/>
          </a:prstGeom>
          <a:solidFill>
            <a:srgbClr val="F3F6F4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9025128" y="3611880"/>
            <a:ext cx="91440" cy="1234440"/>
          </a:xfrm>
          <a:prstGeom prst="rect">
            <a:avLst/>
          </a:prstGeom>
          <a:solidFill>
            <a:srgbClr val="C19A3B"/>
          </a:solidFill>
          <a:ln/>
        </p:spPr>
      </p:sp>
      <p:sp>
        <p:nvSpPr>
          <p:cNvPr id="38" name="Text 35"/>
          <p:cNvSpPr/>
          <p:nvPr/>
        </p:nvSpPr>
        <p:spPr>
          <a:xfrm>
            <a:off x="9299448" y="3721608"/>
            <a:ext cx="2157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B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117</a:t>
            </a:r>
            <a:endParaRPr lang="en-US" sz="3400" dirty="0"/>
          </a:p>
        </p:txBody>
      </p:sp>
      <p:sp>
        <p:nvSpPr>
          <p:cNvPr id="39" name="Text 36"/>
          <p:cNvSpPr/>
          <p:nvPr/>
        </p:nvSpPr>
        <p:spPr>
          <a:xfrm>
            <a:off x="9299448" y="4361688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namespaces</a:t>
            </a:r>
            <a:endParaRPr lang="en-US" sz="1150" dirty="0"/>
          </a:p>
        </p:txBody>
      </p:sp>
      <p:sp>
        <p:nvSpPr>
          <p:cNvPr id="40" name="Shape 37"/>
          <p:cNvSpPr/>
          <p:nvPr/>
        </p:nvSpPr>
        <p:spPr>
          <a:xfrm>
            <a:off x="548640" y="5166360"/>
            <a:ext cx="11091672" cy="960120"/>
          </a:xfrm>
          <a:prstGeom prst="rect">
            <a:avLst/>
          </a:prstGeom>
          <a:solidFill>
            <a:srgbClr val="163528"/>
          </a:solidFill>
          <a:ln/>
        </p:spPr>
      </p:sp>
      <p:sp>
        <p:nvSpPr>
          <p:cNvPr id="41" name="Text 38"/>
          <p:cNvSpPr/>
          <p:nvPr/>
        </p:nvSpPr>
        <p:spPr>
          <a:xfrm>
            <a:off x="868680" y="516636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reduce founder &amp; execution risk — they are not commercial traction.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C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milestone is three Swiss construction design partners, signed letters of intent, and measured time saved per PM. That's what this round funds.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MAAT — Business Control Platform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2C5F4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MARKET, MODEL &amp; GTM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98448" y="658368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B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big, underserved home market.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548640" y="1874520"/>
            <a:ext cx="3200400" cy="914400"/>
          </a:xfrm>
          <a:prstGeom prst="rect">
            <a:avLst/>
          </a:prstGeom>
          <a:solidFill>
            <a:srgbClr val="163528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18745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CHF 6.5B  </a:t>
            </a:r>
            <a:pPr indent="0" marL="0">
              <a:buNone/>
            </a:pPr>
            <a:r>
              <a:rPr lang="en-US" sz="1200" b="1" dirty="0">
                <a:solidFill>
                  <a:srgbClr val="8FB3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TAM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3931920" y="18745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E7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DACH project-based SME software spend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898648"/>
            <a:ext cx="2468880" cy="914400"/>
          </a:xfrm>
          <a:prstGeom prst="rect">
            <a:avLst/>
          </a:prstGeom>
          <a:solidFill>
            <a:srgbClr val="2C5F4F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289864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CHF 0.9B  </a:t>
            </a:r>
            <a:pPr indent="0" marL="0">
              <a:buNone/>
            </a:pPr>
            <a:r>
              <a:rPr lang="en-US" sz="1200" b="1" dirty="0">
                <a:solidFill>
                  <a:srgbClr val="8FB3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3931920" y="2898648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E7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construction &amp; engineering SMEs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3922776"/>
            <a:ext cx="1783080" cy="914400"/>
          </a:xfrm>
          <a:prstGeom prst="rect">
            <a:avLst/>
          </a:prstGeom>
          <a:solidFill>
            <a:srgbClr val="C19A3B"/>
          </a:solidFill>
          <a:ln/>
        </p:spPr>
      </p:sp>
      <p:sp>
        <p:nvSpPr>
          <p:cNvPr id="13" name="Text 10"/>
          <p:cNvSpPr/>
          <p:nvPr/>
        </p:nvSpPr>
        <p:spPr>
          <a:xfrm>
            <a:off x="685800" y="3922776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A4A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CHF 5.4M  </a:t>
            </a:r>
            <a:pPr indent="0" marL="0">
              <a:buNone/>
            </a:pPr>
            <a:r>
              <a:rPr lang="en-US" sz="1200" b="1" dirty="0">
                <a:solidFill>
                  <a:srgbClr val="5A4A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3931920" y="3922776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E7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Obtainable ARR within 3 years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400800" y="17373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Per-seat SaaS pricing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400800" y="2148840"/>
            <a:ext cx="5212080" cy="713232"/>
          </a:xfrm>
          <a:prstGeom prst="rect">
            <a:avLst/>
          </a:prstGeom>
          <a:solidFill>
            <a:srgbClr val="F3F6F4"/>
          </a:solidFill>
          <a:ln/>
        </p:spPr>
      </p:sp>
      <p:sp>
        <p:nvSpPr>
          <p:cNvPr id="17" name="Text 14"/>
          <p:cNvSpPr/>
          <p:nvPr/>
        </p:nvSpPr>
        <p:spPr>
          <a:xfrm>
            <a:off x="6583680" y="2148840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CHF 29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8001000" y="2148840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 </a:t>
            </a:r>
            <a:pPr indent="0" marL="0">
              <a:buNone/>
            </a:pPr>
            <a:r>
              <a:rPr lang="en-US" sz="1100" dirty="0">
                <a:solidFill>
                  <a:srgbClr val="6E7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workspace, repository, basic approvals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400800" y="2935224"/>
            <a:ext cx="5212080" cy="713232"/>
          </a:xfrm>
          <a:prstGeom prst="rect">
            <a:avLst/>
          </a:prstGeom>
          <a:solidFill>
            <a:srgbClr val="F3F6F4"/>
          </a:solidFill>
          <a:ln/>
        </p:spPr>
      </p:sp>
      <p:sp>
        <p:nvSpPr>
          <p:cNvPr id="20" name="Text 17"/>
          <p:cNvSpPr/>
          <p:nvPr/>
        </p:nvSpPr>
        <p:spPr>
          <a:xfrm>
            <a:off x="6583680" y="2935224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CHF 59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8001000" y="2935224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 </a:t>
            </a:r>
            <a:pPr indent="0" marL="0">
              <a:buNone/>
            </a:pPr>
            <a:r>
              <a:rPr lang="en-US" sz="1100" dirty="0">
                <a:solidFill>
                  <a:srgbClr val="6E7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procurement, finance, multi-currency, workflows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400800" y="3721608"/>
            <a:ext cx="5212080" cy="713232"/>
          </a:xfrm>
          <a:prstGeom prst="rect">
            <a:avLst/>
          </a:prstGeom>
          <a:solidFill>
            <a:srgbClr val="F3F6F4"/>
          </a:solidFill>
          <a:ln/>
        </p:spPr>
      </p:sp>
      <p:sp>
        <p:nvSpPr>
          <p:cNvPr id="23" name="Text 20"/>
          <p:cNvSpPr/>
          <p:nvPr/>
        </p:nvSpPr>
        <p:spPr>
          <a:xfrm>
            <a:off x="6583680" y="3721608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8001000" y="3721608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 </a:t>
            </a:r>
            <a:pPr indent="0" marL="0">
              <a:buNone/>
            </a:pPr>
            <a:r>
              <a:rPr lang="en-US" sz="1100" dirty="0">
                <a:solidFill>
                  <a:srgbClr val="6E7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multi-entity, SSO, governance, SLAs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6400800" y="45262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1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~CHF 13,500 ACV  ·  ~25 paid users / customer  ·  ~400 customers targeted in 3 years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48640" y="5074920"/>
            <a:ext cx="11091672" cy="1051560"/>
          </a:xfrm>
          <a:prstGeom prst="rect">
            <a:avLst/>
          </a:prstGeom>
          <a:solidFill>
            <a:srgbClr val="163528"/>
          </a:solidFill>
          <a:ln/>
        </p:spPr>
      </p:sp>
      <p:sp>
        <p:nvSpPr>
          <p:cNvPr id="27" name="Text 24"/>
          <p:cNvSpPr/>
          <p:nvPr/>
        </p:nvSpPr>
        <p:spPr>
          <a:xfrm>
            <a:off x="868680" y="51663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1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868680" y="5440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3 design partners founder-led → turn them into named references → use associations (SBV, SSE, usic) &amp; fairs (Swissbau) for credibility → let referrals compound in a tight-knit regional industry. Predictable monthly SaaS pricing removes the SME budget objection.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MAAT — Business Control Platform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35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828800"/>
            <a:ext cx="5486400" cy="5486400"/>
          </a:xfrm>
          <a:prstGeom prst="ellipse">
            <a:avLst/>
          </a:prstGeom>
          <a:solidFill>
            <a:srgbClr val="2C5F4F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19A3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8448" y="384048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&amp; FUNDING ASK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298448" y="658368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operating system for Swiss construction.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B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Switzerland  ›  DACH (Germany &amp; Austria)  ›  Europe — project-based SMEs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148840"/>
            <a:ext cx="53949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68680" y="2331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1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68680" y="257860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635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CHF 500k</a:t>
            </a:r>
            <a:endParaRPr lang="en-US" sz="4200" dirty="0"/>
          </a:p>
        </p:txBody>
      </p:sp>
      <p:sp>
        <p:nvSpPr>
          <p:cNvPr id="11" name="Text 8"/>
          <p:cNvSpPr/>
          <p:nvPr/>
        </p:nvSpPr>
        <p:spPr>
          <a:xfrm>
            <a:off x="868680" y="32004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18-month runway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68680" y="352044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move from founder-led creation &amp; HARMAR validation to external commercial validation with Swiss design partners. ~50 customers at modeled ACV approaches CHF 0.7M ARR — de-risking a priced Series A.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217920" y="21945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of funds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217920" y="260604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19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45%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7132320" y="26060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Product, onboarding &amp; design-partner hardening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217920" y="306324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19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35%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7132320" y="30632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founder-led design partners &amp; first GTM hires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217920" y="352044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19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10%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7132320" y="35204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Infrastructure, security &amp; hosting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217920" y="397764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19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10%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7132320" y="39776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Contingency &amp; compliance buffer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48640" y="4846320"/>
            <a:ext cx="11091672" cy="1371600"/>
          </a:xfrm>
          <a:prstGeom prst="rect">
            <a:avLst/>
          </a:prstGeom>
          <a:solidFill>
            <a:srgbClr val="2C5F4F"/>
          </a:solidFill>
          <a:ln/>
        </p:spPr>
      </p:sp>
      <p:sp>
        <p:nvSpPr>
          <p:cNvPr id="23" name="Text 20"/>
          <p:cNvSpPr/>
          <p:nvPr/>
        </p:nvSpPr>
        <p:spPr>
          <a:xfrm>
            <a:off x="868680" y="4983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18-MONTH MILESTONES</a:t>
            </a:r>
            <a:endParaRPr lang="en-US" sz="1150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5349240"/>
            <a:ext cx="274320" cy="27432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234440" y="532180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design partners live</a:t>
            </a:r>
            <a:endParaRPr lang="en-US" sz="125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5349240"/>
            <a:ext cx="274320" cy="27432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3931920" y="532180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10 paying customers</a:t>
            </a:r>
            <a:endParaRPr lang="en-US" sz="125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5349240"/>
            <a:ext cx="274320" cy="27432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629400" y="532180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 sales motion</a:t>
            </a:r>
            <a:endParaRPr lang="en-US" sz="125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0" y="5349240"/>
            <a:ext cx="274320" cy="27432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326880" y="532180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customers · DACH underway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MAAT Investor Pitch</dc:title>
  <dc:subject>PptxGenJS Presentation</dc:subject>
  <dc:creator>MAAT</dc:creator>
  <cp:lastModifiedBy>MAAT</cp:lastModifiedBy>
  <cp:revision>1</cp:revision>
  <dcterms:created xsi:type="dcterms:W3CDTF">2026-06-08T04:37:23Z</dcterms:created>
  <dcterms:modified xsi:type="dcterms:W3CDTF">2026-06-08T04:37:23Z</dcterms:modified>
</cp:coreProperties>
</file>